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3C"/>
                </a:solidFill>
                <a:latin typeface="Calibri"/>
              </a:rPr>
              <a:t>Annualised Volatility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Volatility %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TECH-1</c:v>
                  </c:pt>
                  <c:pt idx="1">
                    <c:v>TECH-2</c:v>
                  </c:pt>
                  <c:pt idx="2">
                    <c:v>TECH-3</c:v>
                  </c:pt>
                  <c:pt idx="3">
                    <c:v>TECH-4</c:v>
                  </c:pt>
                  <c:pt idx="4">
                    <c:v>BANK-1</c:v>
                  </c:pt>
                  <c:pt idx="5">
                    <c:v>BANK-2</c:v>
                  </c:pt>
                  <c:pt idx="6">
                    <c:v>BANK-3</c:v>
                  </c:pt>
                  <c:pt idx="7">
                    <c:v>BANK-4</c:v>
                  </c:pt>
                  <c:pt idx="8">
                    <c:v>PHARMA-1</c:v>
                  </c:pt>
                  <c:pt idx="9">
                    <c:v>PHARMA-2</c:v>
                  </c:pt>
                  <c:pt idx="10">
                    <c:v>ENERGY-1</c:v>
                  </c:pt>
                  <c:pt idx="11">
                    <c:v>ENERGY-2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20.1</c:v>
                </c:pt>
                <c:pt idx="1">
                  <c:v>23.6</c:v>
                </c:pt>
                <c:pt idx="2">
                  <c:v>21.4</c:v>
                </c:pt>
                <c:pt idx="3">
                  <c:v>23.1</c:v>
                </c:pt>
                <c:pt idx="4">
                  <c:v>22</c:v>
                </c:pt>
                <c:pt idx="5">
                  <c:v>22.2</c:v>
                </c:pt>
                <c:pt idx="6">
                  <c:v>21.8</c:v>
                </c:pt>
                <c:pt idx="7">
                  <c:v>24</c:v>
                </c:pt>
                <c:pt idx="8">
                  <c:v>21.2</c:v>
                </c:pt>
                <c:pt idx="9">
                  <c:v>22</c:v>
                </c:pt>
                <c:pt idx="10">
                  <c:v>22.1</c:v>
                </c:pt>
                <c:pt idx="11">
                  <c:v>19.6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F2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3C"/>
                </a:solidFill>
                <a:latin typeface="Calibri"/>
              </a:rPr>
              <a:t>Scree Plot: Variance Explained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%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  <c:pt idx="4">
                    <c:v>PC5</c:v>
                  </c:pt>
                  <c:pt idx="5">
                    <c:v>PC6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62.9</c:v>
                </c:pt>
                <c:pt idx="1">
                  <c:v>10.5</c:v>
                </c:pt>
                <c:pt idx="2">
                  <c:v>7.4</c:v>
                </c:pt>
                <c:pt idx="3">
                  <c:v>6.4</c:v>
                </c:pt>
                <c:pt idx="4">
                  <c:v>2</c:v>
                </c:pt>
                <c:pt idx="5">
                  <c:v>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spPr>
            <a:solidFill>
              <a:srgbClr val="F5A623"/>
            </a:solidFill>
            <a:ln w="254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  <c:pt idx="4">
                    <c:v>PC5</c:v>
                  </c:pt>
                  <c:pt idx="5">
                    <c:v>PC6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62.9</c:v>
                </c:pt>
                <c:pt idx="1">
                  <c:v>73.3</c:v>
                </c:pt>
                <c:pt idx="2">
                  <c:v>80.8</c:v>
                </c:pt>
                <c:pt idx="3">
                  <c:v>87.2</c:v>
                </c:pt>
                <c:pt idx="4">
                  <c:v>89.2</c:v>
                </c:pt>
                <c:pt idx="5">
                  <c:v>90.9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3C"/>
                </a:solidFill>
                <a:latin typeface="Calibri"/>
              </a:rPr>
              <a:t>Loadings of PC1 and PC2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PC1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B1</c:v>
                  </c:pt>
                  <c:pt idx="5">
                    <c:v>B2</c:v>
                  </c:pt>
                  <c:pt idx="6">
                    <c:v>B3</c:v>
                  </c:pt>
                  <c:pt idx="7">
                    <c:v>B4</c:v>
                  </c:pt>
                  <c:pt idx="8">
                    <c:v>P1</c:v>
                  </c:pt>
                  <c:pt idx="9">
                    <c:v>P2</c:v>
                  </c:pt>
                  <c:pt idx="10">
                    <c:v>E1</c:v>
                  </c:pt>
                  <c:pt idx="11">
                    <c:v>E2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0.28</c:v>
                </c:pt>
                <c:pt idx="1">
                  <c:v>0.31</c:v>
                </c:pt>
                <c:pt idx="2">
                  <c:v>0.29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0.31</c:v>
                </c:pt>
                <c:pt idx="8">
                  <c:v>0.27</c:v>
                </c:pt>
                <c:pt idx="9">
                  <c:v>0.28</c:v>
                </c:pt>
                <c:pt idx="10">
                  <c:v>0.28</c:v>
                </c:pt>
                <c:pt idx="11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PC2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B1</c:v>
                  </c:pt>
                  <c:pt idx="5">
                    <c:v>B2</c:v>
                  </c:pt>
                  <c:pt idx="6">
                    <c:v>B3</c:v>
                  </c:pt>
                  <c:pt idx="7">
                    <c:v>B4</c:v>
                  </c:pt>
                  <c:pt idx="8">
                    <c:v>P1</c:v>
                  </c:pt>
                  <c:pt idx="9">
                    <c:v>P2</c:v>
                  </c:pt>
                  <c:pt idx="10">
                    <c:v>E1</c:v>
                  </c:pt>
                  <c:pt idx="11">
                    <c:v>E2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0.41</c:v>
                </c:pt>
                <c:pt idx="1">
                  <c:v>0.31</c:v>
                </c:pt>
                <c:pt idx="2">
                  <c:v>0.39</c:v>
                </c:pt>
                <c:pt idx="3">
                  <c:v>0.36</c:v>
                </c:pt>
                <c:pt idx="4">
                  <c:v>-0.34</c:v>
                </c:pt>
                <c:pt idx="5">
                  <c:v>-0.33</c:v>
                </c:pt>
                <c:pt idx="6">
                  <c:v>-0.35</c:v>
                </c:pt>
                <c:pt idx="7">
                  <c:v>-0.32</c:v>
                </c:pt>
                <c:pt idx="8">
                  <c:v>-0.07</c:v>
                </c:pt>
                <c:pt idx="9">
                  <c:v>-0.04</c:v>
                </c:pt>
                <c:pt idx="10">
                  <c:v>0.01</c:v>
                </c:pt>
                <c:pt idx="11">
                  <c:v>0.01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we use PCA to find the few hidden factors that drive risk in a portfolio of many stocks.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more assets means more relationships to track. Correlated assets make risk look diversified when it is not. PCA gives a smaller, cleaner set of factors.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are what we want to achieve. The solution is a simple pipeline: returns go into PCA, PCA gives factors, factors support risk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is simulated with a market factor plus sector factors plus noise, so we know the true structure and can check if PCA finds it. Real data can be swapped in. Heatmap shows sector blocks: stocks in the same sector are more correlated.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ideas. Variance is risk. Eigenvectors give directions of risk. Eigenvalues give size. Scores are the factor time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six stages left to right. The bottom row shows the Python tool used at each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 of the algorithm with the matching formula. Stopping rule: keep enough components to reach about 85 to 90 percent variance, or use Kaiser rule (eigenvalue above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PC1 alone captures most of the variance. The eigenvalue table shows the drop after PC2, which is the elbow in the scree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PC1 loadings are all positive so it is the market factor. PC2 has positive Tech and negative Banks, so it is a sector rotation factor. An equal-weight portfolio is almost entirely exposed to PC1, so adding more stocks does not remove market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findings, mention that data was simulated and the next step is real market data, then list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0FA3B1">
              <a:alpha val="20000"/>
            </a:srgbClr>
          </a:solidFill>
          <a:ln w="12700">
            <a:solidFill>
              <a:srgbClr val="0FA3B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377440"/>
            <a:ext cx="3108960" cy="310896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REVIEW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Risk-Factor Analysis Using PCA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for Portfolio Risk Management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Shammruth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 Praneeth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4773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Portfolio Risk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1197864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078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risk factors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3533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of N assets has N(N-1)/2 correlations. Risk becomes hard to see and manage.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1892808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084832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965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move together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240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in a market move in the same direction, so holding many assets may not diversify as much as expected.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779776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4360" y="297180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8529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covariance matrix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31272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limited history, large covariance matrices are unstable, which hurts optimisation and VaR estimates.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666744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" y="3858768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37398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sources of risk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401421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need to know what drives risk (market, sector), not just how big it is.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852160" y="1005840"/>
            <a:ext cx="2834640" cy="3429000"/>
          </a:xfrm>
          <a:prstGeom prst="roundRect">
            <a:avLst>
              <a:gd name="adj" fmla="val 322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852160" y="1143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6000" dirty="0"/>
          </a:p>
        </p:txBody>
      </p:sp>
      <p:sp>
        <p:nvSpPr>
          <p:cNvPr id="28" name="Text 25"/>
          <p:cNvSpPr txBox="1"/>
          <p:nvPr/>
        </p:nvSpPr>
        <p:spPr>
          <a:xfrm>
            <a:off x="603504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correlations for just 12 stocks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852160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4400" dirty="0"/>
          </a:p>
        </p:txBody>
      </p:sp>
      <p:sp>
        <p:nvSpPr>
          <p:cNvPr id="30" name="Text 27"/>
          <p:cNvSpPr txBox="1"/>
          <p:nvPr/>
        </p:nvSpPr>
        <p:spPr>
          <a:xfrm>
            <a:off x="603504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entries to estimate. Goal: explain them with 2 to 4 factors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Proposed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4773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Portfolio Risk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6304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main hidden risk factors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many correlated assets to few components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much risk each factor explains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each factor means (market, sector)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better diversification and hedging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88620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E6F6F8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a simple, explainable view of portfolio risk.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937760" y="146304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937760" y="1517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returns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17739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stocks, daily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0299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2249424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37760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937760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Eigen-decomposition of correlation matrix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2816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937760" y="3035808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937760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factors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3467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PC1, PC2, PC3 ...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36027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937760" y="3822192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93776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decisions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937760" y="4133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Diversify, hedge, monitor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Exploratory Data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4773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Portfolio Risk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57200" y="1005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23160" y="9601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423160" y="1005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42316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 (~3 yrs)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9120" y="9601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389120" y="1005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09360" y="9601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09360" y="1005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 vs 0.54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corr. same vs different sector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1920240"/>
            <a:ext cx="42062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9" name="Chart 0" descr=""/>
          <p:cNvGraphicFramePr/>
          <p:nvPr/>
        </p:nvGraphicFramePr>
        <p:xfrm>
          <a:off x="502920" y="1938528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6"/>
          <p:cNvSpPr/>
          <p:nvPr/>
        </p:nvSpPr>
        <p:spPr>
          <a:xfrm>
            <a:off x="4846320" y="1920240"/>
            <a:ext cx="3840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4846320" y="1984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(12 stocks)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623560" y="2286000"/>
            <a:ext cx="155448" cy="155448"/>
          </a:xfrm>
          <a:prstGeom prst="rect">
            <a:avLst/>
          </a:prstGeom>
          <a:solidFill>
            <a:srgbClr val="0B6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779008" y="2286000"/>
            <a:ext cx="155448" cy="155448"/>
          </a:xfrm>
          <a:prstGeom prst="rect">
            <a:avLst/>
          </a:prstGeom>
          <a:solidFill>
            <a:srgbClr val="4D97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934456" y="2286000"/>
            <a:ext cx="155448" cy="155448"/>
          </a:xfrm>
          <a:prstGeom prst="rect">
            <a:avLst/>
          </a:prstGeom>
          <a:solidFill>
            <a:srgbClr val="5099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089904" y="2286000"/>
            <a:ext cx="155448" cy="155448"/>
          </a:xfrm>
          <a:prstGeom prst="rect">
            <a:avLst/>
          </a:prstGeom>
          <a:solidFill>
            <a:srgbClr val="5099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45352" y="2286000"/>
            <a:ext cx="155448" cy="155448"/>
          </a:xfrm>
          <a:prstGeom prst="rect">
            <a:avLst/>
          </a:prstGeom>
          <a:solidFill>
            <a:srgbClr val="ABD1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400800" y="2286000"/>
            <a:ext cx="155448" cy="155448"/>
          </a:xfrm>
          <a:prstGeom prst="rect">
            <a:avLst/>
          </a:prstGeom>
          <a:solidFill>
            <a:srgbClr val="A7CF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556248" y="2286000"/>
            <a:ext cx="155448" cy="155448"/>
          </a:xfrm>
          <a:prstGeom prst="rect">
            <a:avLst/>
          </a:prstGeom>
          <a:solidFill>
            <a:srgbClr val="A7CF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11696" y="2286000"/>
            <a:ext cx="155448" cy="155448"/>
          </a:xfrm>
          <a:prstGeom prst="rect">
            <a:avLst/>
          </a:prstGeom>
          <a:solidFill>
            <a:srgbClr val="A4C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867144" y="2286000"/>
            <a:ext cx="155448" cy="155448"/>
          </a:xfrm>
          <a:prstGeom prst="rect">
            <a:avLst/>
          </a:prstGeom>
          <a:solidFill>
            <a:srgbClr val="AED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022592" y="2286000"/>
            <a:ext cx="155448" cy="155448"/>
          </a:xfrm>
          <a:prstGeom prst="rect">
            <a:avLst/>
          </a:prstGeom>
          <a:solidFill>
            <a:srgbClr val="A4C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178040" y="2286000"/>
            <a:ext cx="155448" cy="155448"/>
          </a:xfrm>
          <a:prstGeom prst="rect">
            <a:avLst/>
          </a:prstGeom>
          <a:solidFill>
            <a:srgbClr val="9EC9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333488" y="2286000"/>
            <a:ext cx="155448" cy="155448"/>
          </a:xfrm>
          <a:prstGeom prst="rect">
            <a:avLst/>
          </a:prstGeom>
          <a:solidFill>
            <a:srgbClr val="B4D7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623560" y="2441448"/>
            <a:ext cx="155448" cy="155448"/>
          </a:xfrm>
          <a:prstGeom prst="rect">
            <a:avLst/>
          </a:prstGeom>
          <a:solidFill>
            <a:srgbClr val="4D97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779008" y="2441448"/>
            <a:ext cx="155448" cy="155448"/>
          </a:xfrm>
          <a:prstGeom prst="rect">
            <a:avLst/>
          </a:prstGeom>
          <a:solidFill>
            <a:srgbClr val="0B6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34456" y="2441448"/>
            <a:ext cx="155448" cy="155448"/>
          </a:xfrm>
          <a:prstGeom prst="rect">
            <a:avLst/>
          </a:prstGeom>
          <a:solidFill>
            <a:srgbClr val="4A959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089904" y="2441448"/>
            <a:ext cx="155448" cy="155448"/>
          </a:xfrm>
          <a:prstGeom prst="rect">
            <a:avLst/>
          </a:prstGeom>
          <a:solidFill>
            <a:srgbClr val="4391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245352" y="2441448"/>
            <a:ext cx="155448" cy="155448"/>
          </a:xfrm>
          <a:prstGeom prst="rect">
            <a:avLst/>
          </a:prstGeom>
          <a:solidFill>
            <a:srgbClr val="8EC0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400800" y="2441448"/>
            <a:ext cx="155448" cy="155448"/>
          </a:xfrm>
          <a:prstGeom prst="rect">
            <a:avLst/>
          </a:prstGeom>
          <a:solidFill>
            <a:srgbClr val="8BBE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556248" y="2441448"/>
            <a:ext cx="155448" cy="155448"/>
          </a:xfrm>
          <a:prstGeom prst="rect">
            <a:avLst/>
          </a:prstGeom>
          <a:solidFill>
            <a:srgbClr val="8EC0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711696" y="2441448"/>
            <a:ext cx="155448" cy="155448"/>
          </a:xfrm>
          <a:prstGeom prst="rect">
            <a:avLst/>
          </a:prstGeom>
          <a:solidFill>
            <a:srgbClr val="82B8B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867144" y="2441448"/>
            <a:ext cx="155448" cy="155448"/>
          </a:xfrm>
          <a:prstGeom prst="rect">
            <a:avLst/>
          </a:prstGeom>
          <a:solidFill>
            <a:srgbClr val="9BC7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022592" y="2441448"/>
            <a:ext cx="155448" cy="155448"/>
          </a:xfrm>
          <a:prstGeom prst="rect">
            <a:avLst/>
          </a:prstGeom>
          <a:solidFill>
            <a:srgbClr val="88BC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178040" y="2441448"/>
            <a:ext cx="155448" cy="155448"/>
          </a:xfrm>
          <a:prstGeom prst="rect">
            <a:avLst/>
          </a:prstGeom>
          <a:solidFill>
            <a:srgbClr val="8EC0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333488" y="2441448"/>
            <a:ext cx="155448" cy="155448"/>
          </a:xfrm>
          <a:prstGeom prst="rect">
            <a:avLst/>
          </a:prstGeom>
          <a:solidFill>
            <a:srgbClr val="A1CB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5623560" y="2596896"/>
            <a:ext cx="155448" cy="155448"/>
          </a:xfrm>
          <a:prstGeom prst="rect">
            <a:avLst/>
          </a:prstGeom>
          <a:solidFill>
            <a:srgbClr val="5099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779008" y="2596896"/>
            <a:ext cx="155448" cy="155448"/>
          </a:xfrm>
          <a:prstGeom prst="rect">
            <a:avLst/>
          </a:prstGeom>
          <a:solidFill>
            <a:srgbClr val="4A959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934456" y="2596896"/>
            <a:ext cx="155448" cy="155448"/>
          </a:xfrm>
          <a:prstGeom prst="rect">
            <a:avLst/>
          </a:prstGeom>
          <a:solidFill>
            <a:srgbClr val="0B6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089904" y="2596896"/>
            <a:ext cx="155448" cy="155448"/>
          </a:xfrm>
          <a:prstGeom prst="rect">
            <a:avLst/>
          </a:prstGeom>
          <a:solidFill>
            <a:srgbClr val="4693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245352" y="2596896"/>
            <a:ext cx="155448" cy="155448"/>
          </a:xfrm>
          <a:prstGeom prst="rect">
            <a:avLst/>
          </a:prstGeom>
          <a:solidFill>
            <a:srgbClr val="9EC9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400800" y="2596896"/>
            <a:ext cx="155448" cy="155448"/>
          </a:xfrm>
          <a:prstGeom prst="rect">
            <a:avLst/>
          </a:prstGeom>
          <a:solidFill>
            <a:srgbClr val="A1CB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6556248" y="2596896"/>
            <a:ext cx="155448" cy="155448"/>
          </a:xfrm>
          <a:prstGeom prst="rect">
            <a:avLst/>
          </a:prstGeom>
          <a:solidFill>
            <a:srgbClr val="A1CB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711696" y="2596896"/>
            <a:ext cx="155448" cy="155448"/>
          </a:xfrm>
          <a:prstGeom prst="rect">
            <a:avLst/>
          </a:prstGeom>
          <a:solidFill>
            <a:srgbClr val="9BC7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867144" y="2596896"/>
            <a:ext cx="155448" cy="155448"/>
          </a:xfrm>
          <a:prstGeom prst="rect">
            <a:avLst/>
          </a:prstGeom>
          <a:solidFill>
            <a:srgbClr val="A7CF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022592" y="2596896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7178040" y="2596896"/>
            <a:ext cx="155448" cy="155448"/>
          </a:xfrm>
          <a:prstGeom prst="rect">
            <a:avLst/>
          </a:prstGeom>
          <a:solidFill>
            <a:srgbClr val="A1CB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333488" y="2596896"/>
            <a:ext cx="155448" cy="155448"/>
          </a:xfrm>
          <a:prstGeom prst="rect">
            <a:avLst/>
          </a:prstGeom>
          <a:solidFill>
            <a:srgbClr val="AED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623560" y="2752344"/>
            <a:ext cx="155448" cy="155448"/>
          </a:xfrm>
          <a:prstGeom prst="rect">
            <a:avLst/>
          </a:prstGeom>
          <a:solidFill>
            <a:srgbClr val="5099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5779008" y="2752344"/>
            <a:ext cx="155448" cy="155448"/>
          </a:xfrm>
          <a:prstGeom prst="rect">
            <a:avLst/>
          </a:prstGeom>
          <a:solidFill>
            <a:srgbClr val="4391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5934456" y="2752344"/>
            <a:ext cx="155448" cy="155448"/>
          </a:xfrm>
          <a:prstGeom prst="rect">
            <a:avLst/>
          </a:prstGeom>
          <a:solidFill>
            <a:srgbClr val="4693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6089904" y="2752344"/>
            <a:ext cx="155448" cy="155448"/>
          </a:xfrm>
          <a:prstGeom prst="rect">
            <a:avLst/>
          </a:prstGeom>
          <a:solidFill>
            <a:srgbClr val="0B6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6245352" y="2752344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6400800" y="2752344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556248" y="2752344"/>
            <a:ext cx="155448" cy="155448"/>
          </a:xfrm>
          <a:prstGeom prst="rect">
            <a:avLst/>
          </a:prstGeom>
          <a:solidFill>
            <a:srgbClr val="9EC9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6711696" y="2752344"/>
            <a:ext cx="155448" cy="155448"/>
          </a:xfrm>
          <a:prstGeom prst="rect">
            <a:avLst/>
          </a:prstGeom>
          <a:solidFill>
            <a:srgbClr val="95C3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6867144" y="2752344"/>
            <a:ext cx="155448" cy="155448"/>
          </a:xfrm>
          <a:prstGeom prst="rect">
            <a:avLst/>
          </a:prstGeom>
          <a:solidFill>
            <a:srgbClr val="9EC9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022592" y="2752344"/>
            <a:ext cx="155448" cy="155448"/>
          </a:xfrm>
          <a:prstGeom prst="rect">
            <a:avLst/>
          </a:prstGeom>
          <a:solidFill>
            <a:srgbClr val="8EC0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7178040" y="2752344"/>
            <a:ext cx="155448" cy="155448"/>
          </a:xfrm>
          <a:prstGeom prst="rect">
            <a:avLst/>
          </a:prstGeom>
          <a:solidFill>
            <a:srgbClr val="95C3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333488" y="2752344"/>
            <a:ext cx="155448" cy="155448"/>
          </a:xfrm>
          <a:prstGeom prst="rect">
            <a:avLst/>
          </a:prstGeom>
          <a:solidFill>
            <a:srgbClr val="A7CF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5623560" y="2907792"/>
            <a:ext cx="155448" cy="155448"/>
          </a:xfrm>
          <a:prstGeom prst="rect">
            <a:avLst/>
          </a:prstGeom>
          <a:solidFill>
            <a:srgbClr val="ABD1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5779008" y="2907792"/>
            <a:ext cx="155448" cy="155448"/>
          </a:xfrm>
          <a:prstGeom prst="rect">
            <a:avLst/>
          </a:prstGeom>
          <a:solidFill>
            <a:srgbClr val="8EC0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5934456" y="2907792"/>
            <a:ext cx="155448" cy="155448"/>
          </a:xfrm>
          <a:prstGeom prst="rect">
            <a:avLst/>
          </a:prstGeom>
          <a:solidFill>
            <a:srgbClr val="9EC9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6089904" y="2907792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6245352" y="2907792"/>
            <a:ext cx="155448" cy="155448"/>
          </a:xfrm>
          <a:prstGeom prst="rect">
            <a:avLst/>
          </a:prstGeom>
          <a:solidFill>
            <a:srgbClr val="0B6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6400800" y="2907792"/>
            <a:ext cx="155448" cy="155448"/>
          </a:xfrm>
          <a:prstGeom prst="rect">
            <a:avLst/>
          </a:prstGeom>
          <a:solidFill>
            <a:srgbClr val="4391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6556248" y="2907792"/>
            <a:ext cx="155448" cy="155448"/>
          </a:xfrm>
          <a:prstGeom prst="rect">
            <a:avLst/>
          </a:prstGeom>
          <a:solidFill>
            <a:srgbClr val="4693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6711696" y="2907792"/>
            <a:ext cx="155448" cy="155448"/>
          </a:xfrm>
          <a:prstGeom prst="rect">
            <a:avLst/>
          </a:prstGeom>
          <a:solidFill>
            <a:srgbClr val="408F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6867144" y="2907792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7022592" y="2907792"/>
            <a:ext cx="155448" cy="155448"/>
          </a:xfrm>
          <a:prstGeom prst="rect">
            <a:avLst/>
          </a:prstGeom>
          <a:solidFill>
            <a:srgbClr val="95C3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7178040" y="2907792"/>
            <a:ext cx="155448" cy="155448"/>
          </a:xfrm>
          <a:prstGeom prst="rect">
            <a:avLst/>
          </a:prstGeom>
          <a:solidFill>
            <a:srgbClr val="9BC7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7333488" y="2907792"/>
            <a:ext cx="155448" cy="155448"/>
          </a:xfrm>
          <a:prstGeom prst="rect">
            <a:avLst/>
          </a:prstGeom>
          <a:solidFill>
            <a:srgbClr val="AED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5623560" y="3063240"/>
            <a:ext cx="155448" cy="155448"/>
          </a:xfrm>
          <a:prstGeom prst="rect">
            <a:avLst/>
          </a:prstGeom>
          <a:solidFill>
            <a:srgbClr val="A7CF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5779008" y="3063240"/>
            <a:ext cx="155448" cy="155448"/>
          </a:xfrm>
          <a:prstGeom prst="rect">
            <a:avLst/>
          </a:prstGeom>
          <a:solidFill>
            <a:srgbClr val="8BBE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5934456" y="3063240"/>
            <a:ext cx="155448" cy="155448"/>
          </a:xfrm>
          <a:prstGeom prst="rect">
            <a:avLst/>
          </a:prstGeom>
          <a:solidFill>
            <a:srgbClr val="A1CB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6089904" y="3063240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6245352" y="3063240"/>
            <a:ext cx="155448" cy="155448"/>
          </a:xfrm>
          <a:prstGeom prst="rect">
            <a:avLst/>
          </a:prstGeom>
          <a:solidFill>
            <a:srgbClr val="4391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6400800" y="3063240"/>
            <a:ext cx="155448" cy="155448"/>
          </a:xfrm>
          <a:prstGeom prst="rect">
            <a:avLst/>
          </a:prstGeom>
          <a:solidFill>
            <a:srgbClr val="0B6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556248" y="3063240"/>
            <a:ext cx="155448" cy="155448"/>
          </a:xfrm>
          <a:prstGeom prst="rect">
            <a:avLst/>
          </a:prstGeom>
          <a:solidFill>
            <a:srgbClr val="4693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6711696" y="3063240"/>
            <a:ext cx="155448" cy="155448"/>
          </a:xfrm>
          <a:prstGeom prst="rect">
            <a:avLst/>
          </a:prstGeom>
          <a:solidFill>
            <a:srgbClr val="4693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6867144" y="3063240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7022592" y="3063240"/>
            <a:ext cx="155448" cy="155448"/>
          </a:xfrm>
          <a:prstGeom prst="rect">
            <a:avLst/>
          </a:prstGeom>
          <a:solidFill>
            <a:srgbClr val="92C2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7178040" y="3063240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7333488" y="3063240"/>
            <a:ext cx="155448" cy="155448"/>
          </a:xfrm>
          <a:prstGeom prst="rect">
            <a:avLst/>
          </a:prstGeom>
          <a:solidFill>
            <a:srgbClr val="A4C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623560" y="3218688"/>
            <a:ext cx="155448" cy="155448"/>
          </a:xfrm>
          <a:prstGeom prst="rect">
            <a:avLst/>
          </a:prstGeom>
          <a:solidFill>
            <a:srgbClr val="A7CF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5779008" y="3218688"/>
            <a:ext cx="155448" cy="155448"/>
          </a:xfrm>
          <a:prstGeom prst="rect">
            <a:avLst/>
          </a:prstGeom>
          <a:solidFill>
            <a:srgbClr val="8EC0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5934456" y="3218688"/>
            <a:ext cx="155448" cy="155448"/>
          </a:xfrm>
          <a:prstGeom prst="rect">
            <a:avLst/>
          </a:prstGeom>
          <a:solidFill>
            <a:srgbClr val="A1CB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6089904" y="3218688"/>
            <a:ext cx="155448" cy="155448"/>
          </a:xfrm>
          <a:prstGeom prst="rect">
            <a:avLst/>
          </a:prstGeom>
          <a:solidFill>
            <a:srgbClr val="9EC9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6245352" y="3218688"/>
            <a:ext cx="155448" cy="155448"/>
          </a:xfrm>
          <a:prstGeom prst="rect">
            <a:avLst/>
          </a:prstGeom>
          <a:solidFill>
            <a:srgbClr val="4693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6400800" y="3218688"/>
            <a:ext cx="155448" cy="155448"/>
          </a:xfrm>
          <a:prstGeom prst="rect">
            <a:avLst/>
          </a:prstGeom>
          <a:solidFill>
            <a:srgbClr val="4693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6556248" y="3218688"/>
            <a:ext cx="155448" cy="155448"/>
          </a:xfrm>
          <a:prstGeom prst="rect">
            <a:avLst/>
          </a:prstGeom>
          <a:solidFill>
            <a:srgbClr val="0B6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6711696" y="3218688"/>
            <a:ext cx="155448" cy="155448"/>
          </a:xfrm>
          <a:prstGeom prst="rect">
            <a:avLst/>
          </a:prstGeom>
          <a:solidFill>
            <a:srgbClr val="4693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6867144" y="3218688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7022592" y="3218688"/>
            <a:ext cx="155448" cy="155448"/>
          </a:xfrm>
          <a:prstGeom prst="rect">
            <a:avLst/>
          </a:prstGeom>
          <a:solidFill>
            <a:srgbClr val="92C2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7178040" y="3218688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7333488" y="3218688"/>
            <a:ext cx="155448" cy="155448"/>
          </a:xfrm>
          <a:prstGeom prst="rect">
            <a:avLst/>
          </a:prstGeom>
          <a:solidFill>
            <a:srgbClr val="ABD1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623560" y="3374136"/>
            <a:ext cx="155448" cy="155448"/>
          </a:xfrm>
          <a:prstGeom prst="rect">
            <a:avLst/>
          </a:prstGeom>
          <a:solidFill>
            <a:srgbClr val="A4C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779008" y="3374136"/>
            <a:ext cx="155448" cy="155448"/>
          </a:xfrm>
          <a:prstGeom prst="rect">
            <a:avLst/>
          </a:prstGeom>
          <a:solidFill>
            <a:srgbClr val="82B8B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5934456" y="3374136"/>
            <a:ext cx="155448" cy="155448"/>
          </a:xfrm>
          <a:prstGeom prst="rect">
            <a:avLst/>
          </a:prstGeom>
          <a:solidFill>
            <a:srgbClr val="9BC7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6089904" y="3374136"/>
            <a:ext cx="155448" cy="155448"/>
          </a:xfrm>
          <a:prstGeom prst="rect">
            <a:avLst/>
          </a:prstGeom>
          <a:solidFill>
            <a:srgbClr val="95C3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6245352" y="3374136"/>
            <a:ext cx="155448" cy="155448"/>
          </a:xfrm>
          <a:prstGeom prst="rect">
            <a:avLst/>
          </a:prstGeom>
          <a:solidFill>
            <a:srgbClr val="408F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6400800" y="3374136"/>
            <a:ext cx="155448" cy="155448"/>
          </a:xfrm>
          <a:prstGeom prst="rect">
            <a:avLst/>
          </a:prstGeom>
          <a:solidFill>
            <a:srgbClr val="4693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6556248" y="3374136"/>
            <a:ext cx="155448" cy="155448"/>
          </a:xfrm>
          <a:prstGeom prst="rect">
            <a:avLst/>
          </a:prstGeom>
          <a:solidFill>
            <a:srgbClr val="4693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6711696" y="3374136"/>
            <a:ext cx="155448" cy="155448"/>
          </a:xfrm>
          <a:prstGeom prst="rect">
            <a:avLst/>
          </a:prstGeom>
          <a:solidFill>
            <a:srgbClr val="0B6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6867144" y="3374136"/>
            <a:ext cx="155448" cy="155448"/>
          </a:xfrm>
          <a:prstGeom prst="rect">
            <a:avLst/>
          </a:prstGeom>
          <a:solidFill>
            <a:srgbClr val="92C2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7022592" y="3374136"/>
            <a:ext cx="155448" cy="155448"/>
          </a:xfrm>
          <a:prstGeom prst="rect">
            <a:avLst/>
          </a:prstGeom>
          <a:solidFill>
            <a:srgbClr val="88BC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7178040" y="3374136"/>
            <a:ext cx="155448" cy="155448"/>
          </a:xfrm>
          <a:prstGeom prst="rect">
            <a:avLst/>
          </a:prstGeom>
          <a:solidFill>
            <a:srgbClr val="8EC0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7333488" y="3374136"/>
            <a:ext cx="155448" cy="155448"/>
          </a:xfrm>
          <a:prstGeom prst="rect">
            <a:avLst/>
          </a:prstGeom>
          <a:solidFill>
            <a:srgbClr val="A4C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5623560" y="3529584"/>
            <a:ext cx="155448" cy="155448"/>
          </a:xfrm>
          <a:prstGeom prst="rect">
            <a:avLst/>
          </a:prstGeom>
          <a:solidFill>
            <a:srgbClr val="AED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5779008" y="3529584"/>
            <a:ext cx="155448" cy="155448"/>
          </a:xfrm>
          <a:prstGeom prst="rect">
            <a:avLst/>
          </a:prstGeom>
          <a:solidFill>
            <a:srgbClr val="9BC7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934456" y="3529584"/>
            <a:ext cx="155448" cy="155448"/>
          </a:xfrm>
          <a:prstGeom prst="rect">
            <a:avLst/>
          </a:prstGeom>
          <a:solidFill>
            <a:srgbClr val="A7CF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6089904" y="3529584"/>
            <a:ext cx="155448" cy="155448"/>
          </a:xfrm>
          <a:prstGeom prst="rect">
            <a:avLst/>
          </a:prstGeom>
          <a:solidFill>
            <a:srgbClr val="9EC9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245352" y="3529584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6400800" y="3529584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6556248" y="3529584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6711696" y="3529584"/>
            <a:ext cx="155448" cy="155448"/>
          </a:xfrm>
          <a:prstGeom prst="rect">
            <a:avLst/>
          </a:prstGeom>
          <a:solidFill>
            <a:srgbClr val="92C2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6867144" y="3529584"/>
            <a:ext cx="155448" cy="155448"/>
          </a:xfrm>
          <a:prstGeom prst="rect">
            <a:avLst/>
          </a:prstGeom>
          <a:solidFill>
            <a:srgbClr val="0B6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7022592" y="3529584"/>
            <a:ext cx="155448" cy="155448"/>
          </a:xfrm>
          <a:prstGeom prst="rect">
            <a:avLst/>
          </a:prstGeom>
          <a:solidFill>
            <a:srgbClr val="4693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7178040" y="3529584"/>
            <a:ext cx="155448" cy="155448"/>
          </a:xfrm>
          <a:prstGeom prst="rect">
            <a:avLst/>
          </a:prstGeom>
          <a:solidFill>
            <a:srgbClr val="A4C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7333488" y="3529584"/>
            <a:ext cx="155448" cy="155448"/>
          </a:xfrm>
          <a:prstGeom prst="rect">
            <a:avLst/>
          </a:prstGeom>
          <a:solidFill>
            <a:srgbClr val="AED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5623560" y="3685032"/>
            <a:ext cx="155448" cy="155448"/>
          </a:xfrm>
          <a:prstGeom prst="rect">
            <a:avLst/>
          </a:prstGeom>
          <a:solidFill>
            <a:srgbClr val="A4C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5779008" y="3685032"/>
            <a:ext cx="155448" cy="155448"/>
          </a:xfrm>
          <a:prstGeom prst="rect">
            <a:avLst/>
          </a:prstGeom>
          <a:solidFill>
            <a:srgbClr val="88BC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5934456" y="3685032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6089904" y="3685032"/>
            <a:ext cx="155448" cy="155448"/>
          </a:xfrm>
          <a:prstGeom prst="rect">
            <a:avLst/>
          </a:prstGeom>
          <a:solidFill>
            <a:srgbClr val="8EC0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6245352" y="3685032"/>
            <a:ext cx="155448" cy="155448"/>
          </a:xfrm>
          <a:prstGeom prst="rect">
            <a:avLst/>
          </a:prstGeom>
          <a:solidFill>
            <a:srgbClr val="95C3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6400800" y="3685032"/>
            <a:ext cx="155448" cy="155448"/>
          </a:xfrm>
          <a:prstGeom prst="rect">
            <a:avLst/>
          </a:prstGeom>
          <a:solidFill>
            <a:srgbClr val="92C2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6556248" y="3685032"/>
            <a:ext cx="155448" cy="155448"/>
          </a:xfrm>
          <a:prstGeom prst="rect">
            <a:avLst/>
          </a:prstGeom>
          <a:solidFill>
            <a:srgbClr val="92C2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6711696" y="3685032"/>
            <a:ext cx="155448" cy="155448"/>
          </a:xfrm>
          <a:prstGeom prst="rect">
            <a:avLst/>
          </a:prstGeom>
          <a:solidFill>
            <a:srgbClr val="88BC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6867144" y="3685032"/>
            <a:ext cx="155448" cy="155448"/>
          </a:xfrm>
          <a:prstGeom prst="rect">
            <a:avLst/>
          </a:prstGeom>
          <a:solidFill>
            <a:srgbClr val="4693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7022592" y="3685032"/>
            <a:ext cx="155448" cy="155448"/>
          </a:xfrm>
          <a:prstGeom prst="rect">
            <a:avLst/>
          </a:prstGeom>
          <a:solidFill>
            <a:srgbClr val="0B6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7178040" y="3685032"/>
            <a:ext cx="155448" cy="155448"/>
          </a:xfrm>
          <a:prstGeom prst="rect">
            <a:avLst/>
          </a:prstGeom>
          <a:solidFill>
            <a:srgbClr val="9BC7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7333488" y="3685032"/>
            <a:ext cx="155448" cy="155448"/>
          </a:xfrm>
          <a:prstGeom prst="rect">
            <a:avLst/>
          </a:prstGeom>
          <a:solidFill>
            <a:srgbClr val="A7CF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5623560" y="3840480"/>
            <a:ext cx="155448" cy="155448"/>
          </a:xfrm>
          <a:prstGeom prst="rect">
            <a:avLst/>
          </a:prstGeom>
          <a:solidFill>
            <a:srgbClr val="9EC9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5779008" y="3840480"/>
            <a:ext cx="155448" cy="155448"/>
          </a:xfrm>
          <a:prstGeom prst="rect">
            <a:avLst/>
          </a:prstGeom>
          <a:solidFill>
            <a:srgbClr val="8EC0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5934456" y="3840480"/>
            <a:ext cx="155448" cy="155448"/>
          </a:xfrm>
          <a:prstGeom prst="rect">
            <a:avLst/>
          </a:prstGeom>
          <a:solidFill>
            <a:srgbClr val="A1CB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6089904" y="3840480"/>
            <a:ext cx="155448" cy="155448"/>
          </a:xfrm>
          <a:prstGeom prst="rect">
            <a:avLst/>
          </a:prstGeom>
          <a:solidFill>
            <a:srgbClr val="95C3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6245352" y="3840480"/>
            <a:ext cx="155448" cy="155448"/>
          </a:xfrm>
          <a:prstGeom prst="rect">
            <a:avLst/>
          </a:prstGeom>
          <a:solidFill>
            <a:srgbClr val="9BC7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6400800" y="3840480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6556248" y="3840480"/>
            <a:ext cx="155448" cy="155448"/>
          </a:xfrm>
          <a:prstGeom prst="rect">
            <a:avLst/>
          </a:prstGeom>
          <a:solidFill>
            <a:srgbClr val="98C5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6711696" y="3840480"/>
            <a:ext cx="155448" cy="155448"/>
          </a:xfrm>
          <a:prstGeom prst="rect">
            <a:avLst/>
          </a:prstGeom>
          <a:solidFill>
            <a:srgbClr val="8EC0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6867144" y="3840480"/>
            <a:ext cx="155448" cy="155448"/>
          </a:xfrm>
          <a:prstGeom prst="rect">
            <a:avLst/>
          </a:prstGeom>
          <a:solidFill>
            <a:srgbClr val="A4C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>
            <a:off x="7022592" y="3840480"/>
            <a:ext cx="155448" cy="155448"/>
          </a:xfrm>
          <a:prstGeom prst="rect">
            <a:avLst/>
          </a:prstGeom>
          <a:solidFill>
            <a:srgbClr val="9BC7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>
            <a:off x="7178040" y="3840480"/>
            <a:ext cx="155448" cy="155448"/>
          </a:xfrm>
          <a:prstGeom prst="rect">
            <a:avLst/>
          </a:prstGeom>
          <a:solidFill>
            <a:srgbClr val="0B6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7333488" y="3840480"/>
            <a:ext cx="155448" cy="155448"/>
          </a:xfrm>
          <a:prstGeom prst="rect">
            <a:avLst/>
          </a:prstGeom>
          <a:solidFill>
            <a:srgbClr val="4A959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5623560" y="3995928"/>
            <a:ext cx="155448" cy="155448"/>
          </a:xfrm>
          <a:prstGeom prst="rect">
            <a:avLst/>
          </a:prstGeom>
          <a:solidFill>
            <a:srgbClr val="B4D7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1"/>
          <p:cNvSpPr/>
          <p:nvPr/>
        </p:nvSpPr>
        <p:spPr>
          <a:xfrm>
            <a:off x="5779008" y="3995928"/>
            <a:ext cx="155448" cy="155448"/>
          </a:xfrm>
          <a:prstGeom prst="rect">
            <a:avLst/>
          </a:prstGeom>
          <a:solidFill>
            <a:srgbClr val="A1CB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2"/>
          <p:cNvSpPr/>
          <p:nvPr/>
        </p:nvSpPr>
        <p:spPr>
          <a:xfrm>
            <a:off x="5934456" y="3995928"/>
            <a:ext cx="155448" cy="155448"/>
          </a:xfrm>
          <a:prstGeom prst="rect">
            <a:avLst/>
          </a:prstGeom>
          <a:solidFill>
            <a:srgbClr val="AED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6089904" y="3995928"/>
            <a:ext cx="155448" cy="155448"/>
          </a:xfrm>
          <a:prstGeom prst="rect">
            <a:avLst/>
          </a:prstGeom>
          <a:solidFill>
            <a:srgbClr val="A7CF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4"/>
          <p:cNvSpPr/>
          <p:nvPr/>
        </p:nvSpPr>
        <p:spPr>
          <a:xfrm>
            <a:off x="6245352" y="3995928"/>
            <a:ext cx="155448" cy="155448"/>
          </a:xfrm>
          <a:prstGeom prst="rect">
            <a:avLst/>
          </a:prstGeom>
          <a:solidFill>
            <a:srgbClr val="AED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5"/>
          <p:cNvSpPr/>
          <p:nvPr/>
        </p:nvSpPr>
        <p:spPr>
          <a:xfrm>
            <a:off x="6400800" y="3995928"/>
            <a:ext cx="155448" cy="155448"/>
          </a:xfrm>
          <a:prstGeom prst="rect">
            <a:avLst/>
          </a:prstGeom>
          <a:solidFill>
            <a:srgbClr val="A4C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6556248" y="3995928"/>
            <a:ext cx="155448" cy="155448"/>
          </a:xfrm>
          <a:prstGeom prst="rect">
            <a:avLst/>
          </a:prstGeom>
          <a:solidFill>
            <a:srgbClr val="ABD1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6711696" y="3995928"/>
            <a:ext cx="155448" cy="155448"/>
          </a:xfrm>
          <a:prstGeom prst="rect">
            <a:avLst/>
          </a:prstGeom>
          <a:solidFill>
            <a:srgbClr val="A4C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58"/>
          <p:cNvSpPr/>
          <p:nvPr/>
        </p:nvSpPr>
        <p:spPr>
          <a:xfrm>
            <a:off x="6867144" y="3995928"/>
            <a:ext cx="155448" cy="155448"/>
          </a:xfrm>
          <a:prstGeom prst="rect">
            <a:avLst/>
          </a:prstGeom>
          <a:solidFill>
            <a:srgbClr val="AED3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59"/>
          <p:cNvSpPr/>
          <p:nvPr/>
        </p:nvSpPr>
        <p:spPr>
          <a:xfrm>
            <a:off x="7022592" y="3995928"/>
            <a:ext cx="155448" cy="155448"/>
          </a:xfrm>
          <a:prstGeom prst="rect">
            <a:avLst/>
          </a:prstGeom>
          <a:solidFill>
            <a:srgbClr val="A7CF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7178040" y="3995928"/>
            <a:ext cx="155448" cy="155448"/>
          </a:xfrm>
          <a:prstGeom prst="rect">
            <a:avLst/>
          </a:prstGeom>
          <a:solidFill>
            <a:srgbClr val="4A959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1"/>
          <p:cNvSpPr/>
          <p:nvPr/>
        </p:nvSpPr>
        <p:spPr>
          <a:xfrm>
            <a:off x="7333488" y="3995928"/>
            <a:ext cx="155448" cy="155448"/>
          </a:xfrm>
          <a:prstGeom prst="rect">
            <a:avLst/>
          </a:prstGeom>
          <a:solidFill>
            <a:srgbClr val="0B6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Text 162"/>
          <p:cNvSpPr txBox="1"/>
          <p:nvPr/>
        </p:nvSpPr>
        <p:spPr>
          <a:xfrm>
            <a:off x="5440680" y="2286000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67" name="Text 163"/>
          <p:cNvSpPr txBox="1"/>
          <p:nvPr/>
        </p:nvSpPr>
        <p:spPr>
          <a:xfrm>
            <a:off x="5623560" y="4169664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68" name="Text 164"/>
          <p:cNvSpPr txBox="1"/>
          <p:nvPr/>
        </p:nvSpPr>
        <p:spPr>
          <a:xfrm>
            <a:off x="5440680" y="2441448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69" name="Text 165"/>
          <p:cNvSpPr txBox="1"/>
          <p:nvPr/>
        </p:nvSpPr>
        <p:spPr>
          <a:xfrm>
            <a:off x="5779008" y="4169664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70" name="Text 166"/>
          <p:cNvSpPr txBox="1"/>
          <p:nvPr/>
        </p:nvSpPr>
        <p:spPr>
          <a:xfrm>
            <a:off x="5440680" y="259689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71" name="Text 167"/>
          <p:cNvSpPr txBox="1"/>
          <p:nvPr/>
        </p:nvSpPr>
        <p:spPr>
          <a:xfrm>
            <a:off x="5934456" y="4169664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72" name="Text 168"/>
          <p:cNvSpPr txBox="1"/>
          <p:nvPr/>
        </p:nvSpPr>
        <p:spPr>
          <a:xfrm>
            <a:off x="5440680" y="2752344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73" name="Text 169"/>
          <p:cNvSpPr txBox="1"/>
          <p:nvPr/>
        </p:nvSpPr>
        <p:spPr>
          <a:xfrm>
            <a:off x="6089904" y="4169664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74" name="Text 170"/>
          <p:cNvSpPr txBox="1"/>
          <p:nvPr/>
        </p:nvSpPr>
        <p:spPr>
          <a:xfrm>
            <a:off x="5440680" y="2907792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175" name="Text 171"/>
          <p:cNvSpPr txBox="1"/>
          <p:nvPr/>
        </p:nvSpPr>
        <p:spPr>
          <a:xfrm>
            <a:off x="6245352" y="4169664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176" name="Text 172"/>
          <p:cNvSpPr txBox="1"/>
          <p:nvPr/>
        </p:nvSpPr>
        <p:spPr>
          <a:xfrm>
            <a:off x="5440680" y="3063240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177" name="Text 173"/>
          <p:cNvSpPr txBox="1"/>
          <p:nvPr/>
        </p:nvSpPr>
        <p:spPr>
          <a:xfrm>
            <a:off x="6400800" y="4169664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178" name="Text 174"/>
          <p:cNvSpPr txBox="1"/>
          <p:nvPr/>
        </p:nvSpPr>
        <p:spPr>
          <a:xfrm>
            <a:off x="5440680" y="3218688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179" name="Text 175"/>
          <p:cNvSpPr txBox="1"/>
          <p:nvPr/>
        </p:nvSpPr>
        <p:spPr>
          <a:xfrm>
            <a:off x="6556248" y="4169664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180" name="Text 176"/>
          <p:cNvSpPr txBox="1"/>
          <p:nvPr/>
        </p:nvSpPr>
        <p:spPr>
          <a:xfrm>
            <a:off x="5440680" y="337413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181" name="Text 177"/>
          <p:cNvSpPr txBox="1"/>
          <p:nvPr/>
        </p:nvSpPr>
        <p:spPr>
          <a:xfrm>
            <a:off x="6711696" y="4169664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182" name="Text 178"/>
          <p:cNvSpPr txBox="1"/>
          <p:nvPr/>
        </p:nvSpPr>
        <p:spPr>
          <a:xfrm>
            <a:off x="5440680" y="3529584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183" name="Text 179"/>
          <p:cNvSpPr txBox="1"/>
          <p:nvPr/>
        </p:nvSpPr>
        <p:spPr>
          <a:xfrm>
            <a:off x="6867144" y="4169664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184" name="Text 180"/>
          <p:cNvSpPr txBox="1"/>
          <p:nvPr/>
        </p:nvSpPr>
        <p:spPr>
          <a:xfrm>
            <a:off x="5440680" y="3685032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185" name="Text 181"/>
          <p:cNvSpPr txBox="1"/>
          <p:nvPr/>
        </p:nvSpPr>
        <p:spPr>
          <a:xfrm>
            <a:off x="7022592" y="4169664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186" name="Text 182"/>
          <p:cNvSpPr txBox="1"/>
          <p:nvPr/>
        </p:nvSpPr>
        <p:spPr>
          <a:xfrm>
            <a:off x="5440680" y="3840480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" dirty="0"/>
          </a:p>
        </p:txBody>
      </p:sp>
      <p:sp>
        <p:nvSpPr>
          <p:cNvPr id="187" name="Text 183"/>
          <p:cNvSpPr txBox="1"/>
          <p:nvPr/>
        </p:nvSpPr>
        <p:spPr>
          <a:xfrm>
            <a:off x="7178040" y="4169664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" dirty="0"/>
          </a:p>
        </p:txBody>
      </p:sp>
      <p:sp>
        <p:nvSpPr>
          <p:cNvPr id="188" name="Text 184"/>
          <p:cNvSpPr txBox="1"/>
          <p:nvPr/>
        </p:nvSpPr>
        <p:spPr>
          <a:xfrm>
            <a:off x="5440680" y="3995928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" dirty="0"/>
          </a:p>
        </p:txBody>
      </p:sp>
      <p:sp>
        <p:nvSpPr>
          <p:cNvPr id="189" name="Text 185"/>
          <p:cNvSpPr txBox="1"/>
          <p:nvPr/>
        </p:nvSpPr>
        <p:spPr>
          <a:xfrm>
            <a:off x="7333488" y="4169664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" dirty="0"/>
          </a:p>
        </p:txBody>
      </p:sp>
      <p:sp>
        <p:nvSpPr>
          <p:cNvPr id="190" name="Text 186"/>
          <p:cNvSpPr txBox="1"/>
          <p:nvPr/>
        </p:nvSpPr>
        <p:spPr>
          <a:xfrm>
            <a:off x="4892040" y="43342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Tech · B = Banks · P = Pharma · E = Energy. Darker = higher correlation.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 Behind PCA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4773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Portfolio Risk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18872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170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= Risk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53619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comes from variance of returns. PCA finds the directions where variance is largest.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10058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18872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1170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 = Loading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394960" y="153619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of each stock in a component. Shows what the factor represents.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2423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587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= Size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95351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of variance a component captures. Larger eigenvalue means a more important risk factor.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663440" y="2423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260604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463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394960" y="2587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Score = Factor return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394960" y="295351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value of the component, PC = Z · v. Components are uncorrelated with each other.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Explained variance of PCk  =  λk / (λ1 + λ2 + ... + λN)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Implementation: Program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4773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Portfolio Risk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188720" cy="21488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9536" y="123444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210312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price / return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69748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697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pandas.read_csv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847088" y="1097280"/>
            <a:ext cx="1188720" cy="21488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49424" y="123444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249424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847088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210312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938528" y="269748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938528" y="2697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dropna, pct_change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3035808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3236976" y="1097280"/>
            <a:ext cx="1188720" cy="21488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39312" y="123444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39312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236976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3310128" y="210312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returns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328416" y="269748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328416" y="2697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425696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4626864" y="1097280"/>
            <a:ext cx="1188720" cy="21488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029200" y="123444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9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4626864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4700016" y="210312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Eigen-decomposition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718304" y="269748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718304" y="2697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 PCA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5815584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8" name="Shape 35"/>
          <p:cNvSpPr/>
          <p:nvPr/>
        </p:nvSpPr>
        <p:spPr>
          <a:xfrm>
            <a:off x="6016752" y="1097280"/>
            <a:ext cx="1188720" cy="21488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419088" y="123444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41908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016752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6089904" y="210312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&amp; loadings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108192" y="269748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108192" y="2697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cumsum, DataFrame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7205472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6" name="Shape 43"/>
          <p:cNvSpPr/>
          <p:nvPr/>
        </p:nvSpPr>
        <p:spPr>
          <a:xfrm>
            <a:off x="7406640" y="1097280"/>
            <a:ext cx="1188720" cy="21488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7808976" y="123444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80897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7406640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7479792" y="210312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diversification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7498080" y="269748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E6F6F8"/>
          </a:solidFill>
          <a:ln w="12700">
            <a:solidFill>
              <a:srgbClr val="E6F6F8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498080" y="2697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 plots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6F6F8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4" name="Text 51"/>
          <p:cNvSpPr txBox="1"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x 750 daily returns   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eigenvalues, loadings, PC scores, risk share per factor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NumPy · pandas · scikit-learn · Matplotlib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Algorithm &amp; 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4773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Portfolio Risk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returns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(R − mean) / std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09928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938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ZᵀZ / (n − 1)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36829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2322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Eigen-decomposition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2596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v = λ v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026664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" y="2980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eigenvalue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3255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λ1 ≥ λ2 ≥ ... ≥ λN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685032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05840" y="3639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 = Z · v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80560" y="1005840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17720" y="1115568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  = StandardScaler().fit_transform(R)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PCA().fit(Z)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 = pca.explained_variance_ratio_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loads  = pca.components_      # loadings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pca.transform(Z)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480560" y="347472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E6F6F8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4663440" y="347472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components to keep?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variance ≥ 85–90%, or eigenvalue &gt; 1 (Kaiser rule). Here Kaiser keeps 2 components.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1: Risk Explained by Each Factor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4773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Portfolio Risk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7548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502920" y="1051560"/>
          <a:ext cx="46634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005840"/>
          <a:ext cx="3246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82296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440680" y="269748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alone explains 62.9% of total risk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drop after PC2: the elbow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PCs capture 87.2%; 6 reach 90%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PC1, PC2 have eigenvalue &gt; 1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2: What Do the Risk Factors Mean?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4773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Portfolio Risk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502920" y="105156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7033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Tech · B = Banks · P = Pharma · E = Energy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806440" y="1005840"/>
            <a:ext cx="2880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943600" y="1069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PC1: Market factor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5943600" y="13350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loadings positive (~0.3). Correlation with market = 0.92.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806440" y="1920240"/>
            <a:ext cx="2880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943600" y="1984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PC2: Tech vs Banks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22494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positive, Banks negative: a sector rotation factor.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06440" y="288036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897880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≈100%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6949440" y="2880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equal-weight portfolio risk comes from PC1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6F6F8"/>
          </a:solidFill>
          <a:ln w="952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insight: diversifying across similar stocks does not remove market risk. Hedge PC1, and use PC2 to manage sector tilt.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Future Scope &amp; References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863840" y="4773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4592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reduced 12 correlated stocks to a few key factors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= market factor (62.9% of variance)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= Tech vs Banks sector factor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PCs keep 87.2% of information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clearer, more stable view of risk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91840" y="105156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64592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real NSE / global data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Rolling-window PCA to track changing factors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factors to VaR, stress tests, hedging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Sparse PCA and statistical factor models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PCA is linear and factors need interpretation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105156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164592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Jolliffe &amp; Cadima (2016), Principal component analysis: a review and recent developments. Phil. Trans. R. Soc. 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(1952), Portfolio Selection. Journal of Finance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(2008), Market Risk Analysis, Vol. II. Wiley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2026-09-29T06:59:26Z</dcterms:created>
  <dcterms:modified xsi:type="dcterms:W3CDTF">2026-09-29T06:59:26Z</dcterms:modified>
</cp:coreProperties>
</file>